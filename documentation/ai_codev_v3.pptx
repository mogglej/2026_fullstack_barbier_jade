
<file path=[Content_Types].xml><?xml version="1.0" encoding="utf-8"?>
<Types xmlns="http://schemas.openxmlformats.org/package/2006/content-types"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1" roundtripDataSignature="AMtx7mjuFvC1qOYWhBbF9susbz80u1HMn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1" Type="http://customschemas.google.com/relationships/presentationmetadata" Target="metadata"/><Relationship Id="rId10" Type="http://schemas.openxmlformats.org/officeDocument/2006/relationships/slide" Target="slides/slide6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" name="Google Shape;6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" name="Google Shape;95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d21a676ba0_0_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g3d21a676ba0_0_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g3d21a676ba0_0_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gif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C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5943600" y="-1371600"/>
            <a:ext cx="5486400" cy="5486400"/>
          </a:xfrm>
          <a:prstGeom prst="ellipse">
            <a:avLst/>
          </a:prstGeom>
          <a:solidFill>
            <a:srgbClr val="5B7FFF">
              <a:alpha val="12156"/>
            </a:srgbClr>
          </a:solidFill>
          <a:ln cap="flat" cmpd="sng" w="12700">
            <a:solidFill>
              <a:srgbClr val="5B7FFF">
                <a:alpha val="1215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7315200" y="2926080"/>
            <a:ext cx="2926080" cy="2926080"/>
          </a:xfrm>
          <a:prstGeom prst="ellipse">
            <a:avLst/>
          </a:prstGeom>
          <a:solidFill>
            <a:srgbClr val="9B72FF">
              <a:alpha val="10196"/>
            </a:srgbClr>
          </a:solidFill>
          <a:ln cap="flat" cmpd="sng" w="12700">
            <a:solidFill>
              <a:srgbClr val="9B72FF">
                <a:alpha val="1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502920" y="777240"/>
            <a:ext cx="5669280" cy="3657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1"/>
          <p:cNvSpPr/>
          <p:nvPr/>
        </p:nvSpPr>
        <p:spPr>
          <a:xfrm>
            <a:off x="502920" y="777240"/>
            <a:ext cx="201168" cy="3657600"/>
          </a:xfrm>
          <a:prstGeom prst="rect">
            <a:avLst/>
          </a:prstGeom>
          <a:solidFill>
            <a:srgbClr val="5B7FFF"/>
          </a:solidFill>
          <a:ln cap="flat" cmpd="sng" w="12700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841248" y="1024128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FFF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Developpement </a:t>
            </a:r>
            <a:r>
              <a:rPr b="1" lang="en-US" sz="900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Fullstack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841248" y="1371600"/>
            <a:ext cx="512064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L'IA dans ma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démarche de dev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738036" y="4041650"/>
            <a:ext cx="20160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7FFF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Jade BARBIER - 4A Info Alt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C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2"/>
          <p:cNvSpPr/>
          <p:nvPr/>
        </p:nvSpPr>
        <p:spPr>
          <a:xfrm>
            <a:off x="0" y="0"/>
            <a:ext cx="201168" cy="749808"/>
          </a:xfrm>
          <a:prstGeom prst="rect">
            <a:avLst/>
          </a:prstGeom>
          <a:solidFill>
            <a:srgbClr val="5B7FFF"/>
          </a:solidFill>
          <a:ln cap="flat" cmpd="sng" w="12700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347472" y="0"/>
            <a:ext cx="85953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01  ·  Rédaction des spécifications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151725" y="896100"/>
            <a:ext cx="4327500" cy="4139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151725" y="896100"/>
            <a:ext cx="4327500" cy="280800"/>
          </a:xfrm>
          <a:prstGeom prst="rect">
            <a:avLst/>
          </a:prstGeom>
          <a:solidFill>
            <a:srgbClr val="EDF0FF"/>
          </a:solidFill>
          <a:ln cap="flat" cmpd="sng" w="9525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292623" y="909474"/>
            <a:ext cx="4025400" cy="24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7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📄  Extrait — Cahier des charges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4" name="Google Shape;34;p2"/>
          <p:cNvCxnSpPr/>
          <p:nvPr/>
        </p:nvCxnSpPr>
        <p:spPr>
          <a:xfrm>
            <a:off x="5014327" y="1143000"/>
            <a:ext cx="0" cy="3474600"/>
          </a:xfrm>
          <a:prstGeom prst="straightConnector1">
            <a:avLst/>
          </a:prstGeom>
          <a:noFill/>
          <a:ln cap="flat" cmpd="sng" w="19050">
            <a:solidFill>
              <a:srgbClr val="DDE3ED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35" name="Google Shape;35;p2"/>
          <p:cNvSpPr/>
          <p:nvPr/>
        </p:nvSpPr>
        <p:spPr>
          <a:xfrm>
            <a:off x="4813159" y="1078992"/>
            <a:ext cx="402300" cy="402300"/>
          </a:xfrm>
          <a:prstGeom prst="ellipse">
            <a:avLst/>
          </a:prstGeom>
          <a:solidFill>
            <a:srgbClr val="64748B"/>
          </a:solidFill>
          <a:ln cap="flat" cmpd="sng" w="12700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4813159" y="1078992"/>
            <a:ext cx="4023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5380087" y="896112"/>
            <a:ext cx="3602700" cy="804600"/>
          </a:xfrm>
          <a:prstGeom prst="rect">
            <a:avLst/>
          </a:prstGeom>
          <a:solidFill>
            <a:srgbClr val="F1F4F9"/>
          </a:solidFill>
          <a:ln cap="flat" cmpd="sng" w="9525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5380087" y="896112"/>
            <a:ext cx="63900" cy="804600"/>
          </a:xfrm>
          <a:prstGeom prst="rect">
            <a:avLst/>
          </a:prstGeom>
          <a:solidFill>
            <a:srgbClr val="64748B"/>
          </a:solidFill>
          <a:ln cap="flat" cmpd="sng" w="12700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5562967" y="950976"/>
            <a:ext cx="3291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Rédaction manuelle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5562967" y="1261872"/>
            <a:ext cx="32919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Structure initiale rédigée </a:t>
            </a:r>
            <a:r>
              <a:rPr lang="en-US" sz="95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par l’humain que je suis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4813159" y="2066544"/>
            <a:ext cx="402300" cy="402300"/>
          </a:xfrm>
          <a:prstGeom prst="ellipse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4813159" y="2066544"/>
            <a:ext cx="4023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5380087" y="1883664"/>
            <a:ext cx="3602700" cy="804600"/>
          </a:xfrm>
          <a:prstGeom prst="rect">
            <a:avLst/>
          </a:prstGeom>
          <a:solidFill>
            <a:srgbClr val="FFF8E6"/>
          </a:solidFill>
          <a:ln cap="flat" cmpd="sng" w="9525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5380087" y="1883664"/>
            <a:ext cx="63900" cy="804600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5562967" y="1938528"/>
            <a:ext cx="3291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ChatGPT (</a:t>
            </a:r>
            <a:r>
              <a:rPr b="1" lang="en-US" sz="1100">
                <a:solidFill>
                  <a:schemeClr val="dk1"/>
                </a:solidFill>
              </a:rPr>
              <a:t>GPT-5.3)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5562967" y="2249424"/>
            <a:ext cx="32919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Idées d'évolution (favoris, drag &amp; drop…)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sans améliorer la formulation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4813159" y="3054096"/>
            <a:ext cx="402300" cy="402300"/>
          </a:xfrm>
          <a:prstGeom prst="ellipse">
            <a:avLst/>
          </a:prstGeom>
          <a:solidFill>
            <a:srgbClr val="19B39A"/>
          </a:solidFill>
          <a:ln cap="flat" cmpd="sng" w="12700">
            <a:solidFill>
              <a:srgbClr val="19B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4813159" y="3054096"/>
            <a:ext cx="4023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5380087" y="2871216"/>
            <a:ext cx="3602700" cy="804600"/>
          </a:xfrm>
          <a:prstGeom prst="rect">
            <a:avLst/>
          </a:prstGeom>
          <a:solidFill>
            <a:srgbClr val="E6FAF7"/>
          </a:solidFill>
          <a:ln cap="flat" cmpd="sng" w="9525">
            <a:solidFill>
              <a:srgbClr val="19B39A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5380087" y="2871216"/>
            <a:ext cx="63900" cy="804600"/>
          </a:xfrm>
          <a:prstGeom prst="rect">
            <a:avLst/>
          </a:prstGeom>
          <a:solidFill>
            <a:srgbClr val="19B39A"/>
          </a:solidFill>
          <a:ln cap="flat" cmpd="sng" w="12700">
            <a:solidFill>
              <a:srgbClr val="19B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5562967" y="2926080"/>
            <a:ext cx="3291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Gemini   (</a:t>
            </a:r>
            <a:r>
              <a:rPr b="1" lang="en-US" sz="1200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3 Flash)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5562967" y="3236976"/>
            <a:ext cx="32919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Réorganisation en sous-parties,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reformulation de sections clés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4813159" y="4041648"/>
            <a:ext cx="402300" cy="402300"/>
          </a:xfrm>
          <a:prstGeom prst="ellipse">
            <a:avLst/>
          </a:prstGeom>
          <a:solidFill>
            <a:srgbClr val="5B7FFF"/>
          </a:solidFill>
          <a:ln cap="flat" cmpd="sng" w="12700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2"/>
          <p:cNvSpPr/>
          <p:nvPr/>
        </p:nvSpPr>
        <p:spPr>
          <a:xfrm>
            <a:off x="4813159" y="4041648"/>
            <a:ext cx="4023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5380080" y="3858776"/>
            <a:ext cx="3602700" cy="943800"/>
          </a:xfrm>
          <a:prstGeom prst="rect">
            <a:avLst/>
          </a:prstGeom>
          <a:solidFill>
            <a:srgbClr val="EDF0FF"/>
          </a:solidFill>
          <a:ln cap="flat" cmpd="sng" w="9525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2"/>
          <p:cNvSpPr/>
          <p:nvPr/>
        </p:nvSpPr>
        <p:spPr>
          <a:xfrm>
            <a:off x="5380083" y="3858776"/>
            <a:ext cx="63900" cy="943800"/>
          </a:xfrm>
          <a:prstGeom prst="rect">
            <a:avLst/>
          </a:prstGeom>
          <a:solidFill>
            <a:srgbClr val="5B7FFF"/>
          </a:solidFill>
          <a:ln cap="flat" cmpd="sng" w="12700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2"/>
          <p:cNvSpPr/>
          <p:nvPr/>
        </p:nvSpPr>
        <p:spPr>
          <a:xfrm>
            <a:off x="5562967" y="3913632"/>
            <a:ext cx="3291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Claude  (</a:t>
            </a:r>
            <a:r>
              <a:rPr b="1" lang="en-US" sz="1200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Sonnet 4.6)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5562955" y="4207794"/>
            <a:ext cx="3291900" cy="53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Amélioration des modèles</a:t>
            </a:r>
            <a:endParaRPr sz="950">
              <a:solidFill>
                <a:srgbClr val="4A556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Alignement CdC ↔ Contrat de classe,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correction de structure et formulation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9" name="Google Shape;59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4075" y="1191703"/>
            <a:ext cx="4327655" cy="3843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C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3"/>
          <p:cNvSpPr/>
          <p:nvPr/>
        </p:nvSpPr>
        <p:spPr>
          <a:xfrm>
            <a:off x="0" y="0"/>
            <a:ext cx="201168" cy="749808"/>
          </a:xfrm>
          <a:prstGeom prst="rect">
            <a:avLst/>
          </a:prstGeom>
          <a:solidFill>
            <a:srgbClr val="9B72FF"/>
          </a:solidFill>
          <a:ln cap="flat" cmpd="sng" w="12700">
            <a:solidFill>
              <a:srgbClr val="9B7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3"/>
          <p:cNvSpPr/>
          <p:nvPr/>
        </p:nvSpPr>
        <p:spPr>
          <a:xfrm>
            <a:off x="347472" y="0"/>
            <a:ext cx="85953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02  ·  Sprints &amp; fichiers de contexte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256025" y="896100"/>
            <a:ext cx="3657600" cy="40737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3"/>
          <p:cNvSpPr/>
          <p:nvPr/>
        </p:nvSpPr>
        <p:spPr>
          <a:xfrm>
            <a:off x="256025" y="896100"/>
            <a:ext cx="3657600" cy="387000"/>
          </a:xfrm>
          <a:prstGeom prst="rect">
            <a:avLst/>
          </a:prstGeom>
          <a:solidFill>
            <a:srgbClr val="F3EEFF"/>
          </a:solidFill>
          <a:ln cap="flat" cmpd="sng" w="9525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3"/>
          <p:cNvSpPr/>
          <p:nvPr/>
        </p:nvSpPr>
        <p:spPr>
          <a:xfrm>
            <a:off x="375113" y="914533"/>
            <a:ext cx="3402600" cy="33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72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9B72FF"/>
                </a:solidFill>
                <a:latin typeface="Calibri"/>
                <a:ea typeface="Calibri"/>
                <a:cs typeface="Calibri"/>
                <a:sym typeface="Calibri"/>
              </a:rPr>
              <a:t>📋  Extrait — Sprints 1 et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392126" y="1356934"/>
            <a:ext cx="3402600" cy="24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Objectif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392126" y="1651868"/>
            <a:ext cx="3402600" cy="38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Mettre en place l'architecture de base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et l'authentification utilisateur.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392126" y="2085052"/>
            <a:ext cx="3402600" cy="24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Tâches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392126" y="2379986"/>
            <a:ext cx="3402600" cy="22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✓  Init projet React + Node/Express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392126" y="2647270"/>
            <a:ext cx="3402600" cy="22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✓  Modèle User (PostgreSQL)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392126" y="2914553"/>
            <a:ext cx="3402600" cy="22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✓  Routes Auth : register / login / logout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392126" y="3181837"/>
            <a:ext cx="3402600" cy="22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✓  JWT middleware + Tests Postman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392126" y="3449121"/>
            <a:ext cx="3402600" cy="24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Critères de validation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392126" y="3744055"/>
            <a:ext cx="34026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Login fonctionnel · Token persistant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Réponses conformes contrat API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3"/>
          <p:cNvSpPr/>
          <p:nvPr/>
        </p:nvSpPr>
        <p:spPr>
          <a:xfrm>
            <a:off x="4141402" y="896100"/>
            <a:ext cx="4746600" cy="1188600"/>
          </a:xfrm>
          <a:prstGeom prst="rect">
            <a:avLst/>
          </a:prstGeom>
          <a:solidFill>
            <a:srgbClr val="F3EEFF"/>
          </a:solidFill>
          <a:ln cap="flat" cmpd="sng" w="9525">
            <a:solidFill>
              <a:srgbClr val="9B72F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3"/>
          <p:cNvSpPr/>
          <p:nvPr/>
        </p:nvSpPr>
        <p:spPr>
          <a:xfrm>
            <a:off x="4141402" y="896100"/>
            <a:ext cx="77700" cy="1188600"/>
          </a:xfrm>
          <a:prstGeom prst="rect">
            <a:avLst/>
          </a:prstGeom>
          <a:solidFill>
            <a:srgbClr val="9B72FF"/>
          </a:solidFill>
          <a:ln cap="flat" cmpd="sng" w="12700">
            <a:solidFill>
              <a:srgbClr val="9B7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3"/>
          <p:cNvSpPr/>
          <p:nvPr/>
        </p:nvSpPr>
        <p:spPr>
          <a:xfrm>
            <a:off x="4363724" y="987540"/>
            <a:ext cx="43353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Sprints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3"/>
          <p:cNvSpPr/>
          <p:nvPr/>
        </p:nvSpPr>
        <p:spPr>
          <a:xfrm>
            <a:off x="4363724" y="1335013"/>
            <a:ext cx="4335300" cy="69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Rédaction initiale par étape,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puis demande à Claude de compléter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pour couvrir tous les pans du projet.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3"/>
          <p:cNvSpPr/>
          <p:nvPr/>
        </p:nvSpPr>
        <p:spPr>
          <a:xfrm>
            <a:off x="4141402" y="2249414"/>
            <a:ext cx="4746600" cy="1188600"/>
          </a:xfrm>
          <a:prstGeom prst="rect">
            <a:avLst/>
          </a:prstGeom>
          <a:solidFill>
            <a:srgbClr val="EDF0FF"/>
          </a:solidFill>
          <a:ln cap="flat" cmpd="sng" w="9525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3"/>
          <p:cNvSpPr/>
          <p:nvPr/>
        </p:nvSpPr>
        <p:spPr>
          <a:xfrm>
            <a:off x="4141402" y="2249414"/>
            <a:ext cx="77700" cy="1188600"/>
          </a:xfrm>
          <a:prstGeom prst="rect">
            <a:avLst/>
          </a:prstGeom>
          <a:solidFill>
            <a:srgbClr val="5B7FFF"/>
          </a:solidFill>
          <a:ln cap="flat" cmpd="sng" w="12700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3"/>
          <p:cNvSpPr/>
          <p:nvPr/>
        </p:nvSpPr>
        <p:spPr>
          <a:xfrm>
            <a:off x="4363724" y="2340854"/>
            <a:ext cx="43353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claude.md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4363724" y="2688327"/>
            <a:ext cx="4335300" cy="69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Conventions de code, stack tech, structure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des dossiers, règles de nommage.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Généré par Claude, relu manuellement.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4141402" y="3602728"/>
            <a:ext cx="4746600" cy="1188600"/>
          </a:xfrm>
          <a:prstGeom prst="rect">
            <a:avLst/>
          </a:prstGeom>
          <a:solidFill>
            <a:srgbClr val="E6FAF7"/>
          </a:solidFill>
          <a:ln cap="flat" cmpd="sng" w="9525">
            <a:solidFill>
              <a:srgbClr val="19B39A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3"/>
          <p:cNvSpPr/>
          <p:nvPr/>
        </p:nvSpPr>
        <p:spPr>
          <a:xfrm>
            <a:off x="4141402" y="3602728"/>
            <a:ext cx="77700" cy="1188600"/>
          </a:xfrm>
          <a:prstGeom prst="rect">
            <a:avLst/>
          </a:prstGeom>
          <a:solidFill>
            <a:srgbClr val="19B39A"/>
          </a:solidFill>
          <a:ln cap="flat" cmpd="sng" w="12700">
            <a:solidFill>
              <a:srgbClr val="19B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3"/>
          <p:cNvSpPr/>
          <p:nvPr/>
        </p:nvSpPr>
        <p:spPr>
          <a:xfrm>
            <a:off x="4363724" y="3694168"/>
            <a:ext cx="43353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agent.md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3"/>
          <p:cNvSpPr/>
          <p:nvPr/>
        </p:nvSpPr>
        <p:spPr>
          <a:xfrm>
            <a:off x="4363724" y="4041641"/>
            <a:ext cx="4335300" cy="69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Comportement de l'agent : ton et r</a:t>
            </a:r>
            <a:r>
              <a:rPr lang="en-US" sz="10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ôle</a:t>
            </a: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, étapes,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gestion des erreurs, auto-correction.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Généré par Claude, relu manuellement et v</a:t>
            </a: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érifié ensuite par ChatGPT.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2" name="Google Shape;92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6025" y="1277875"/>
            <a:ext cx="3657599" cy="36919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C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4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4"/>
          <p:cNvSpPr/>
          <p:nvPr/>
        </p:nvSpPr>
        <p:spPr>
          <a:xfrm>
            <a:off x="0" y="0"/>
            <a:ext cx="201168" cy="749808"/>
          </a:xfrm>
          <a:prstGeom prst="rect">
            <a:avLst/>
          </a:prstGeom>
          <a:solidFill>
            <a:srgbClr val="19B39A"/>
          </a:solidFill>
          <a:ln cap="flat" cmpd="sng" w="12700">
            <a:solidFill>
              <a:srgbClr val="19B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4"/>
          <p:cNvSpPr/>
          <p:nvPr/>
        </p:nvSpPr>
        <p:spPr>
          <a:xfrm>
            <a:off x="347472" y="0"/>
            <a:ext cx="85953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03  ·  Mon cycle de co-développement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4"/>
          <p:cNvSpPr/>
          <p:nvPr/>
        </p:nvSpPr>
        <p:spPr>
          <a:xfrm>
            <a:off x="256025" y="914400"/>
            <a:ext cx="8745000" cy="1719000"/>
          </a:xfrm>
          <a:prstGeom prst="rect">
            <a:avLst/>
          </a:prstGeom>
          <a:solidFill>
            <a:srgbClr val="EDF0FF"/>
          </a:solidFill>
          <a:ln cap="flat" cmpd="sng" w="9525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4"/>
          <p:cNvSpPr/>
          <p:nvPr/>
        </p:nvSpPr>
        <p:spPr>
          <a:xfrm>
            <a:off x="256025" y="2816350"/>
            <a:ext cx="8745000" cy="1719000"/>
          </a:xfrm>
          <a:prstGeom prst="rect">
            <a:avLst/>
          </a:prstGeom>
          <a:solidFill>
            <a:srgbClr val="E6FAF7"/>
          </a:solidFill>
          <a:ln cap="flat" cmpd="sng" w="9525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4"/>
          <p:cNvSpPr/>
          <p:nvPr/>
        </p:nvSpPr>
        <p:spPr>
          <a:xfrm>
            <a:off x="114368" y="914400"/>
            <a:ext cx="914400" cy="1719000"/>
          </a:xfrm>
          <a:prstGeom prst="rect">
            <a:avLst/>
          </a:prstGeom>
          <a:solidFill>
            <a:srgbClr val="5B7FFF"/>
          </a:solidFill>
          <a:ln cap="flat" cmpd="sng" w="12700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114368" y="914400"/>
            <a:ext cx="914400" cy="171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🤖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Claude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4"/>
          <p:cNvSpPr/>
          <p:nvPr/>
        </p:nvSpPr>
        <p:spPr>
          <a:xfrm>
            <a:off x="114368" y="2816352"/>
            <a:ext cx="914400" cy="1719000"/>
          </a:xfrm>
          <a:prstGeom prst="rect">
            <a:avLst/>
          </a:prstGeom>
          <a:solidFill>
            <a:srgbClr val="19B39A"/>
          </a:solidFill>
          <a:ln cap="flat" cmpd="sng" w="12700">
            <a:solidFill>
              <a:srgbClr val="19B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4"/>
          <p:cNvSpPr/>
          <p:nvPr/>
        </p:nvSpPr>
        <p:spPr>
          <a:xfrm>
            <a:off x="114368" y="2816352"/>
            <a:ext cx="914400" cy="171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👤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Moi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7" name="Google Shape;107;p4"/>
          <p:cNvCxnSpPr/>
          <p:nvPr/>
        </p:nvCxnSpPr>
        <p:spPr>
          <a:xfrm>
            <a:off x="2064048" y="1737360"/>
            <a:ext cx="228600" cy="0"/>
          </a:xfrm>
          <a:prstGeom prst="straightConnector1">
            <a:avLst/>
          </a:prstGeom>
          <a:noFill/>
          <a:ln cap="flat" cmpd="sng" w="19050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8" name="Google Shape;108;p4"/>
          <p:cNvSpPr/>
          <p:nvPr/>
        </p:nvSpPr>
        <p:spPr>
          <a:xfrm>
            <a:off x="3838364" y="1161145"/>
            <a:ext cx="1097400" cy="109740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4"/>
          <p:cNvSpPr/>
          <p:nvPr/>
        </p:nvSpPr>
        <p:spPr>
          <a:xfrm>
            <a:off x="3829292" y="1161145"/>
            <a:ext cx="10974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7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Développe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7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les tâches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/>
          <p:nvPr/>
        </p:nvSpPr>
        <p:spPr>
          <a:xfrm>
            <a:off x="5153446" y="1161495"/>
            <a:ext cx="1097400" cy="109740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"/>
          <p:cNvSpPr/>
          <p:nvPr/>
        </p:nvSpPr>
        <p:spPr>
          <a:xfrm>
            <a:off x="5153446" y="1161495"/>
            <a:ext cx="10974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7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Tests vs CdC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7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&amp; Contrat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2" name="Google Shape;112;p4"/>
          <p:cNvCxnSpPr/>
          <p:nvPr/>
        </p:nvCxnSpPr>
        <p:spPr>
          <a:xfrm>
            <a:off x="6250726" y="1710135"/>
            <a:ext cx="228600" cy="0"/>
          </a:xfrm>
          <a:prstGeom prst="straightConnector1">
            <a:avLst/>
          </a:prstGeom>
          <a:noFill/>
          <a:ln cap="flat" cmpd="sng" w="19050">
            <a:solidFill>
              <a:srgbClr val="5B7FFF"/>
            </a:solidFill>
            <a:prstDash val="solid"/>
            <a:round/>
            <a:headEnd len="sm" w="sm" type="none"/>
            <a:tailEnd len="sm" w="sm" type="triangle"/>
          </a:ln>
        </p:spPr>
      </p:cxnSp>
      <p:sp>
        <p:nvSpPr>
          <p:cNvPr id="113" name="Google Shape;113;p4"/>
          <p:cNvSpPr/>
          <p:nvPr/>
        </p:nvSpPr>
        <p:spPr>
          <a:xfrm>
            <a:off x="6461038" y="1161495"/>
            <a:ext cx="1097400" cy="109740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4"/>
          <p:cNvSpPr/>
          <p:nvPr/>
        </p:nvSpPr>
        <p:spPr>
          <a:xfrm>
            <a:off x="6461038" y="1161495"/>
            <a:ext cx="10974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7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Auto-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7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correction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5" name="Google Shape;115;p4"/>
          <p:cNvCxnSpPr/>
          <p:nvPr/>
        </p:nvCxnSpPr>
        <p:spPr>
          <a:xfrm>
            <a:off x="7558318" y="1710135"/>
            <a:ext cx="228600" cy="0"/>
          </a:xfrm>
          <a:prstGeom prst="straightConnector1">
            <a:avLst/>
          </a:prstGeom>
          <a:noFill/>
          <a:ln cap="flat" cmpd="sng" w="19050">
            <a:solidFill>
              <a:srgbClr val="5B7FFF"/>
            </a:solidFill>
            <a:prstDash val="solid"/>
            <a:round/>
            <a:headEnd len="sm" w="sm" type="none"/>
            <a:tailEnd len="sm" w="sm" type="triangle"/>
          </a:ln>
        </p:spPr>
      </p:cxnSp>
      <p:sp>
        <p:nvSpPr>
          <p:cNvPr id="116" name="Google Shape;116;p4"/>
          <p:cNvSpPr/>
          <p:nvPr/>
        </p:nvSpPr>
        <p:spPr>
          <a:xfrm>
            <a:off x="7768630" y="1161495"/>
            <a:ext cx="1097400" cy="109740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4"/>
          <p:cNvSpPr/>
          <p:nvPr/>
        </p:nvSpPr>
        <p:spPr>
          <a:xfrm>
            <a:off x="7768630" y="1161495"/>
            <a:ext cx="10974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7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git commit 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7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git push 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1236525" y="3090550"/>
            <a:ext cx="3690300" cy="109740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19B39A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4"/>
          <p:cNvSpPr/>
          <p:nvPr/>
        </p:nvSpPr>
        <p:spPr>
          <a:xfrm>
            <a:off x="1236680" y="3090550"/>
            <a:ext cx="36903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9B39A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9B39A"/>
                </a:solidFill>
                <a:latin typeface="Calibri"/>
                <a:ea typeface="Calibri"/>
                <a:cs typeface="Calibri"/>
                <a:sym typeface="Calibri"/>
              </a:rPr>
              <a:t>Prépare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9B39A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9B39A"/>
                </a:solidFill>
                <a:latin typeface="Calibri"/>
                <a:ea typeface="Calibri"/>
                <a:cs typeface="Calibri"/>
                <a:sym typeface="Calibri"/>
              </a:rPr>
              <a:t>Sprint N+1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6465374" y="3072467"/>
            <a:ext cx="1097400" cy="109740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19B39A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4"/>
          <p:cNvSpPr/>
          <p:nvPr/>
        </p:nvSpPr>
        <p:spPr>
          <a:xfrm>
            <a:off x="6465374" y="3072467"/>
            <a:ext cx="10974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9B39A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9B39A"/>
                </a:solidFill>
                <a:latin typeface="Calibri"/>
                <a:ea typeface="Calibri"/>
                <a:cs typeface="Calibri"/>
                <a:sym typeface="Calibri"/>
              </a:rPr>
              <a:t>Vérifie le travail </a:t>
            </a:r>
            <a:endParaRPr b="1" i="0" sz="950" u="none" cap="none" strike="noStrike">
              <a:solidFill>
                <a:srgbClr val="19B39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9B39A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9B39A"/>
                </a:solidFill>
                <a:latin typeface="Calibri"/>
                <a:ea typeface="Calibri"/>
                <a:cs typeface="Calibri"/>
                <a:sym typeface="Calibri"/>
              </a:rPr>
              <a:t>et demande des</a:t>
            </a:r>
            <a:endParaRPr b="1" i="0" sz="950" u="none" cap="none" strike="noStrike">
              <a:solidFill>
                <a:srgbClr val="19B39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9B39A"/>
              </a:buClr>
              <a:buSzPts val="950"/>
              <a:buFont typeface="Calibri"/>
              <a:buNone/>
            </a:pPr>
            <a:r>
              <a:rPr b="1" lang="en-US" sz="950">
                <a:solidFill>
                  <a:srgbClr val="19B39A"/>
                </a:solidFill>
                <a:latin typeface="Calibri"/>
                <a:ea typeface="Calibri"/>
                <a:cs typeface="Calibri"/>
                <a:sym typeface="Calibri"/>
              </a:rPr>
              <a:t>explications</a:t>
            </a:r>
            <a:endParaRPr b="1" sz="950">
              <a:solidFill>
                <a:srgbClr val="19B39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5153452" y="3072424"/>
            <a:ext cx="1097400" cy="109740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19B39A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4"/>
          <p:cNvSpPr/>
          <p:nvPr/>
        </p:nvSpPr>
        <p:spPr>
          <a:xfrm>
            <a:off x="5153452" y="3072424"/>
            <a:ext cx="10974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9B39A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9B39A"/>
                </a:solidFill>
                <a:latin typeface="Calibri"/>
                <a:ea typeface="Calibri"/>
                <a:cs typeface="Calibri"/>
                <a:sym typeface="Calibri"/>
              </a:rPr>
              <a:t>Corrige /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9B39A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9B39A"/>
                </a:solidFill>
                <a:latin typeface="Calibri"/>
                <a:ea typeface="Calibri"/>
                <a:cs typeface="Calibri"/>
                <a:sym typeface="Calibri"/>
              </a:rPr>
              <a:t>demande fix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4" name="Google Shape;124;p4"/>
          <p:cNvCxnSpPr>
            <a:stCxn id="123" idx="3"/>
            <a:endCxn id="121" idx="1"/>
          </p:cNvCxnSpPr>
          <p:nvPr/>
        </p:nvCxnSpPr>
        <p:spPr>
          <a:xfrm>
            <a:off x="6250852" y="3621124"/>
            <a:ext cx="214500" cy="0"/>
          </a:xfrm>
          <a:prstGeom prst="straightConnector1">
            <a:avLst/>
          </a:prstGeom>
          <a:noFill/>
          <a:ln cap="flat" cmpd="sng" w="19050">
            <a:solidFill>
              <a:srgbClr val="19B39A"/>
            </a:solidFill>
            <a:prstDash val="solid"/>
            <a:round/>
            <a:headEnd len="sm" w="sm" type="triangle"/>
            <a:tailEnd len="sm" w="sm" type="none"/>
          </a:ln>
        </p:spPr>
      </p:cxnSp>
      <p:sp>
        <p:nvSpPr>
          <p:cNvPr id="125" name="Google Shape;125;p4"/>
          <p:cNvSpPr/>
          <p:nvPr/>
        </p:nvSpPr>
        <p:spPr>
          <a:xfrm>
            <a:off x="7775593" y="3090672"/>
            <a:ext cx="1097400" cy="109740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19B39A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4"/>
          <p:cNvSpPr/>
          <p:nvPr/>
        </p:nvSpPr>
        <p:spPr>
          <a:xfrm>
            <a:off x="7777304" y="3090547"/>
            <a:ext cx="10974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9B39A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9B39A"/>
                </a:solidFill>
                <a:latin typeface="Calibri"/>
                <a:ea typeface="Calibri"/>
                <a:cs typeface="Calibri"/>
                <a:sym typeface="Calibri"/>
              </a:rPr>
              <a:t>Lance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9B39A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9B39A"/>
                </a:solidFill>
                <a:latin typeface="Calibri"/>
                <a:ea typeface="Calibri"/>
                <a:cs typeface="Calibri"/>
                <a:sym typeface="Calibri"/>
              </a:rPr>
              <a:t>Sprint N+1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1236521" y="1161220"/>
            <a:ext cx="1097400" cy="109740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6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4"/>
          <p:cNvSpPr/>
          <p:nvPr/>
        </p:nvSpPr>
        <p:spPr>
          <a:xfrm>
            <a:off x="1227782" y="1161220"/>
            <a:ext cx="10974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7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git commit N </a:t>
            </a:r>
            <a:r>
              <a:rPr b="1" lang="en-US" sz="950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b="1" i="0" lang="en-US" sz="950" u="none" cap="none" strike="noStrike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 1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7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git push N </a:t>
            </a:r>
            <a:r>
              <a:rPr b="1" lang="en-US" sz="950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– 1</a:t>
            </a:r>
            <a:r>
              <a:rPr b="1" lang="en-US" sz="950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9" name="Google Shape;129;p4"/>
          <p:cNvCxnSpPr>
            <a:stCxn id="128" idx="3"/>
            <a:endCxn id="130" idx="1"/>
          </p:cNvCxnSpPr>
          <p:nvPr/>
        </p:nvCxnSpPr>
        <p:spPr>
          <a:xfrm>
            <a:off x="2325182" y="1709920"/>
            <a:ext cx="198000" cy="300"/>
          </a:xfrm>
          <a:prstGeom prst="straightConnector1">
            <a:avLst/>
          </a:prstGeom>
          <a:noFill/>
          <a:ln cap="flat" cmpd="sng" w="19050">
            <a:solidFill>
              <a:srgbClr val="5B7FFF"/>
            </a:solidFill>
            <a:prstDash val="solid"/>
            <a:round/>
            <a:headEnd len="sm" w="sm" type="none"/>
            <a:tailEnd len="sm" w="sm" type="triangle"/>
          </a:ln>
        </p:spPr>
      </p:cxnSp>
      <p:sp>
        <p:nvSpPr>
          <p:cNvPr id="131" name="Google Shape;131;p4"/>
          <p:cNvSpPr/>
          <p:nvPr/>
        </p:nvSpPr>
        <p:spPr>
          <a:xfrm>
            <a:off x="2523308" y="1161506"/>
            <a:ext cx="1097400" cy="109740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6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4"/>
          <p:cNvSpPr/>
          <p:nvPr/>
        </p:nvSpPr>
        <p:spPr>
          <a:xfrm>
            <a:off x="2523308" y="1161506"/>
            <a:ext cx="10974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7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Démarre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B7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5B7FFF"/>
                </a:solidFill>
                <a:latin typeface="Calibri"/>
                <a:ea typeface="Calibri"/>
                <a:cs typeface="Calibri"/>
                <a:sym typeface="Calibri"/>
              </a:rPr>
              <a:t>Sprint 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2" name="Google Shape;132;p4"/>
          <p:cNvCxnSpPr/>
          <p:nvPr/>
        </p:nvCxnSpPr>
        <p:spPr>
          <a:xfrm>
            <a:off x="3620707" y="1710045"/>
            <a:ext cx="198000" cy="300"/>
          </a:xfrm>
          <a:prstGeom prst="straightConnector1">
            <a:avLst/>
          </a:prstGeom>
          <a:noFill/>
          <a:ln cap="flat" cmpd="sng" w="19050">
            <a:solidFill>
              <a:srgbClr val="5B7FFF"/>
            </a:solidFill>
            <a:prstDash val="solid"/>
            <a:round/>
            <a:headEnd len="sm" w="sm" type="none"/>
            <a:tailEnd len="sm" w="sm" type="triangle"/>
          </a:ln>
        </p:spPr>
      </p:cxnSp>
      <p:cxnSp>
        <p:nvCxnSpPr>
          <p:cNvPr id="133" name="Google Shape;133;p4"/>
          <p:cNvCxnSpPr/>
          <p:nvPr/>
        </p:nvCxnSpPr>
        <p:spPr>
          <a:xfrm>
            <a:off x="4941882" y="1709695"/>
            <a:ext cx="198000" cy="300"/>
          </a:xfrm>
          <a:prstGeom prst="straightConnector1">
            <a:avLst/>
          </a:prstGeom>
          <a:noFill/>
          <a:ln cap="flat" cmpd="sng" w="19050">
            <a:solidFill>
              <a:srgbClr val="5B7FFF"/>
            </a:solidFill>
            <a:prstDash val="solid"/>
            <a:round/>
            <a:headEnd len="sm" w="sm" type="none"/>
            <a:tailEnd len="sm" w="sm" type="triangle"/>
          </a:ln>
        </p:spPr>
      </p:cxnSp>
      <p:cxnSp>
        <p:nvCxnSpPr>
          <p:cNvPr id="134" name="Google Shape;134;p4"/>
          <p:cNvCxnSpPr>
            <a:stCxn id="114" idx="3"/>
            <a:endCxn id="121" idx="3"/>
          </p:cNvCxnSpPr>
          <p:nvPr/>
        </p:nvCxnSpPr>
        <p:spPr>
          <a:xfrm>
            <a:off x="7558438" y="1710195"/>
            <a:ext cx="4200" cy="1911000"/>
          </a:xfrm>
          <a:prstGeom prst="bentConnector3">
            <a:avLst>
              <a:gd fmla="val 3408012" name="adj1"/>
            </a:avLst>
          </a:prstGeom>
          <a:noFill/>
          <a:ln cap="flat" cmpd="sng" w="19050">
            <a:solidFill>
              <a:srgbClr val="9B72FF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35" name="Google Shape;135;p4"/>
          <p:cNvCxnSpPr>
            <a:stCxn id="111" idx="1"/>
            <a:endCxn id="123" idx="1"/>
          </p:cNvCxnSpPr>
          <p:nvPr/>
        </p:nvCxnSpPr>
        <p:spPr>
          <a:xfrm>
            <a:off x="5153446" y="1710195"/>
            <a:ext cx="600" cy="1911000"/>
          </a:xfrm>
          <a:prstGeom prst="bentConnector3">
            <a:avLst>
              <a:gd fmla="val -24695250" name="adj1"/>
            </a:avLst>
          </a:prstGeom>
          <a:noFill/>
          <a:ln cap="flat" cmpd="sng" w="19050">
            <a:solidFill>
              <a:srgbClr val="9B72FF"/>
            </a:solidFill>
            <a:prstDash val="solid"/>
            <a:round/>
            <a:headEnd len="med" w="med" type="triangle"/>
            <a:tailEnd len="med" w="med" type="none"/>
          </a:ln>
        </p:spPr>
      </p:cxnSp>
      <p:cxnSp>
        <p:nvCxnSpPr>
          <p:cNvPr id="136" name="Google Shape;136;p4"/>
          <p:cNvCxnSpPr>
            <a:stCxn id="106" idx="3"/>
            <a:endCxn id="128" idx="1"/>
          </p:cNvCxnSpPr>
          <p:nvPr/>
        </p:nvCxnSpPr>
        <p:spPr>
          <a:xfrm flipH="1" rot="10800000">
            <a:off x="1028768" y="1709952"/>
            <a:ext cx="198900" cy="1965900"/>
          </a:xfrm>
          <a:prstGeom prst="bentConnector3">
            <a:avLst>
              <a:gd fmla="val 31653" name="adj1"/>
            </a:avLst>
          </a:prstGeom>
          <a:noFill/>
          <a:ln cap="flat" cmpd="sng" w="19050">
            <a:solidFill>
              <a:srgbClr val="19B39A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7" name="Google Shape;137;p4"/>
          <p:cNvSpPr txBox="1"/>
          <p:nvPr/>
        </p:nvSpPr>
        <p:spPr>
          <a:xfrm>
            <a:off x="5013825" y="4645350"/>
            <a:ext cx="40005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Total de temps passé : ~ 16 h dont 8 h de cours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C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d21a676ba0_0_4"/>
          <p:cNvSpPr/>
          <p:nvPr/>
        </p:nvSpPr>
        <p:spPr>
          <a:xfrm>
            <a:off x="0" y="0"/>
            <a:ext cx="9144000" cy="7497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g3d21a676ba0_0_4"/>
          <p:cNvSpPr/>
          <p:nvPr/>
        </p:nvSpPr>
        <p:spPr>
          <a:xfrm>
            <a:off x="0" y="0"/>
            <a:ext cx="201300" cy="749700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g3d21a676ba0_0_4"/>
          <p:cNvSpPr/>
          <p:nvPr/>
        </p:nvSpPr>
        <p:spPr>
          <a:xfrm>
            <a:off x="347472" y="0"/>
            <a:ext cx="8595300" cy="74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1800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r>
              <a:rPr b="1" i="0" lang="en-US" sz="18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  · </a:t>
            </a:r>
            <a:r>
              <a:rPr b="1" lang="en-US" sz="1800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Une interface par Figma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g3d21a676ba0_0_4"/>
          <p:cNvSpPr/>
          <p:nvPr/>
        </p:nvSpPr>
        <p:spPr>
          <a:xfrm>
            <a:off x="152400" y="1233915"/>
            <a:ext cx="3380700" cy="1037400"/>
          </a:xfrm>
          <a:prstGeom prst="rect">
            <a:avLst/>
          </a:prstGeom>
          <a:solidFill>
            <a:srgbClr val="FFF8E6"/>
          </a:solidFill>
          <a:ln cap="flat" cmpd="sng" w="9525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6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g3d21a676ba0_0_4"/>
          <p:cNvSpPr/>
          <p:nvPr/>
        </p:nvSpPr>
        <p:spPr>
          <a:xfrm>
            <a:off x="160701" y="1233915"/>
            <a:ext cx="85800" cy="1037400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g3d21a676ba0_0_4"/>
          <p:cNvSpPr/>
          <p:nvPr/>
        </p:nvSpPr>
        <p:spPr>
          <a:xfrm>
            <a:off x="388929" y="1612665"/>
            <a:ext cx="3566100" cy="50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Initialement pour me conseiller</a:t>
            </a:r>
            <a:endParaRPr sz="1000">
              <a:solidFill>
                <a:srgbClr val="4A556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Finalement, il a codé l’interface directement</a:t>
            </a:r>
            <a:endParaRPr sz="1000">
              <a:solidFill>
                <a:srgbClr val="4A556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g3d21a676ba0_0_4"/>
          <p:cNvSpPr/>
          <p:nvPr/>
        </p:nvSpPr>
        <p:spPr>
          <a:xfrm>
            <a:off x="379855" y="1325379"/>
            <a:ext cx="35661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Figma</a:t>
            </a:r>
            <a:endParaRPr b="1" sz="1300">
              <a:solidFill>
                <a:srgbClr val="1E2A3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g3d21a676ba0_0_4"/>
          <p:cNvSpPr/>
          <p:nvPr/>
        </p:nvSpPr>
        <p:spPr>
          <a:xfrm>
            <a:off x="3685425" y="896100"/>
            <a:ext cx="5052300" cy="4041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6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g3d21a676ba0_0_4"/>
          <p:cNvSpPr/>
          <p:nvPr/>
        </p:nvSpPr>
        <p:spPr>
          <a:xfrm>
            <a:off x="3685500" y="896100"/>
            <a:ext cx="5052300" cy="384000"/>
          </a:xfrm>
          <a:prstGeom prst="rect">
            <a:avLst/>
          </a:prstGeom>
          <a:solidFill>
            <a:srgbClr val="FFF8E6"/>
          </a:solidFill>
          <a:ln cap="flat" cmpd="sng" w="9525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g3d21a676ba0_0_4"/>
          <p:cNvSpPr/>
          <p:nvPr/>
        </p:nvSpPr>
        <p:spPr>
          <a:xfrm>
            <a:off x="3920150" y="914375"/>
            <a:ext cx="46716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72FF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9B72FF"/>
                </a:solidFill>
                <a:latin typeface="Calibri"/>
                <a:ea typeface="Calibri"/>
                <a:cs typeface="Calibri"/>
                <a:sym typeface="Calibri"/>
              </a:rPr>
              <a:t>💬</a:t>
            </a:r>
            <a:r>
              <a:rPr b="1" i="0" lang="en-US" sz="1000" u="none" cap="none" strike="noStrike">
                <a:solidFill>
                  <a:srgbClr val="9B72FF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lang="en-US" sz="1000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Mon Prompt</a:t>
            </a:r>
            <a:endParaRPr b="0" i="0" sz="1000" u="none" cap="none" strike="noStrike">
              <a:solidFill>
                <a:srgbClr val="F59E0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3" name="Google Shape;153;g3d21a676ba0_0_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85437" y="1280100"/>
            <a:ext cx="2431583" cy="3647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g3d21a676ba0_0_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13400" y="1274856"/>
            <a:ext cx="2624325" cy="36473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g3d21a676ba0_0_4" title="output-2.gif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2414172"/>
            <a:ext cx="3380700" cy="223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C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5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5"/>
          <p:cNvSpPr/>
          <p:nvPr/>
        </p:nvSpPr>
        <p:spPr>
          <a:xfrm>
            <a:off x="0" y="0"/>
            <a:ext cx="201168" cy="749808"/>
          </a:xfrm>
          <a:prstGeom prst="rect">
            <a:avLst/>
          </a:prstGeom>
          <a:solidFill>
            <a:srgbClr val="F43F5E"/>
          </a:solidFill>
          <a:ln cap="flat" cmpd="sng" w="12700">
            <a:solidFill>
              <a:srgbClr val="F43F5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5"/>
          <p:cNvSpPr/>
          <p:nvPr/>
        </p:nvSpPr>
        <p:spPr>
          <a:xfrm>
            <a:off x="347472" y="0"/>
            <a:ext cx="85953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1800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r>
              <a:rPr b="1" i="0" lang="en-US" sz="18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  ·  Ce que ça m'apporte — bilan &amp; leçons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256032" y="896112"/>
            <a:ext cx="2743200" cy="1828800"/>
          </a:xfrm>
          <a:prstGeom prst="rect">
            <a:avLst/>
          </a:prstGeom>
          <a:solidFill>
            <a:srgbClr val="EDF0FF"/>
          </a:solidFill>
          <a:ln cap="flat" cmpd="sng" w="9525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5"/>
          <p:cNvSpPr/>
          <p:nvPr/>
        </p:nvSpPr>
        <p:spPr>
          <a:xfrm>
            <a:off x="256032" y="896112"/>
            <a:ext cx="2743200" cy="64008"/>
          </a:xfrm>
          <a:prstGeom prst="rect">
            <a:avLst/>
          </a:prstGeom>
          <a:solidFill>
            <a:srgbClr val="5B7FFF"/>
          </a:solidFill>
          <a:ln cap="flat" cmpd="sng" w="12700">
            <a:solidFill>
              <a:srgbClr val="5B7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5"/>
          <p:cNvSpPr/>
          <p:nvPr/>
        </p:nvSpPr>
        <p:spPr>
          <a:xfrm>
            <a:off x="384048" y="1024128"/>
            <a:ext cx="2487168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🧩  Chaque IA a son rôle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384048" y="1426464"/>
            <a:ext cx="2487168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Inspiration (ChatGPT), structure (Gemini),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cohérence et exécution (Claude).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3163824" y="896112"/>
            <a:ext cx="2743200" cy="1828800"/>
          </a:xfrm>
          <a:prstGeom prst="rect">
            <a:avLst/>
          </a:prstGeom>
          <a:solidFill>
            <a:srgbClr val="E6FAF7"/>
          </a:solidFill>
          <a:ln cap="flat" cmpd="sng" w="9525">
            <a:solidFill>
              <a:srgbClr val="19B39A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5"/>
          <p:cNvSpPr/>
          <p:nvPr/>
        </p:nvSpPr>
        <p:spPr>
          <a:xfrm>
            <a:off x="3163824" y="896112"/>
            <a:ext cx="2743200" cy="64008"/>
          </a:xfrm>
          <a:prstGeom prst="rect">
            <a:avLst/>
          </a:prstGeom>
          <a:solidFill>
            <a:srgbClr val="19B39A"/>
          </a:solidFill>
          <a:ln cap="flat" cmpd="sng" w="12700">
            <a:solidFill>
              <a:srgbClr val="19B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5"/>
          <p:cNvSpPr/>
          <p:nvPr/>
        </p:nvSpPr>
        <p:spPr>
          <a:xfrm>
            <a:off x="3291840" y="1024128"/>
            <a:ext cx="2487168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📎  Le contexte est décisif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5"/>
          <p:cNvSpPr/>
          <p:nvPr/>
        </p:nvSpPr>
        <p:spPr>
          <a:xfrm>
            <a:off x="3291840" y="1426464"/>
            <a:ext cx="2487168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CdC + contrat + claude.md + agent.md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= outputs bien meilleurs.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5"/>
          <p:cNvSpPr/>
          <p:nvPr/>
        </p:nvSpPr>
        <p:spPr>
          <a:xfrm>
            <a:off x="6071616" y="896112"/>
            <a:ext cx="2743200" cy="1828800"/>
          </a:xfrm>
          <a:prstGeom prst="rect">
            <a:avLst/>
          </a:prstGeom>
          <a:solidFill>
            <a:srgbClr val="F3EEFF"/>
          </a:solidFill>
          <a:ln cap="flat" cmpd="sng" w="9525">
            <a:solidFill>
              <a:srgbClr val="9B72F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5"/>
          <p:cNvSpPr/>
          <p:nvPr/>
        </p:nvSpPr>
        <p:spPr>
          <a:xfrm>
            <a:off x="6071616" y="896112"/>
            <a:ext cx="2743200" cy="64008"/>
          </a:xfrm>
          <a:prstGeom prst="rect">
            <a:avLst/>
          </a:prstGeom>
          <a:solidFill>
            <a:srgbClr val="9B72FF"/>
          </a:solidFill>
          <a:ln cap="flat" cmpd="sng" w="12700">
            <a:solidFill>
              <a:srgbClr val="9B7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5"/>
          <p:cNvSpPr/>
          <p:nvPr/>
        </p:nvSpPr>
        <p:spPr>
          <a:xfrm>
            <a:off x="6199632" y="1024128"/>
            <a:ext cx="2487168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🔄  Itération multi-IA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5"/>
          <p:cNvSpPr/>
          <p:nvPr/>
        </p:nvSpPr>
        <p:spPr>
          <a:xfrm>
            <a:off x="6199632" y="1426464"/>
            <a:ext cx="2487168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Croiser plusieurs modèles corrige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les angles morts de chacun.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5"/>
          <p:cNvSpPr/>
          <p:nvPr/>
        </p:nvSpPr>
        <p:spPr>
          <a:xfrm>
            <a:off x="256032" y="2889504"/>
            <a:ext cx="2743200" cy="1828800"/>
          </a:xfrm>
          <a:prstGeom prst="rect">
            <a:avLst/>
          </a:prstGeom>
          <a:solidFill>
            <a:srgbClr val="EDFBF2"/>
          </a:solidFill>
          <a:ln cap="flat" cmpd="sng" w="9525">
            <a:solidFill>
              <a:srgbClr val="22C55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5"/>
          <p:cNvSpPr/>
          <p:nvPr/>
        </p:nvSpPr>
        <p:spPr>
          <a:xfrm>
            <a:off x="256032" y="2889504"/>
            <a:ext cx="2743200" cy="64008"/>
          </a:xfrm>
          <a:prstGeom prst="rect">
            <a:avLst/>
          </a:prstGeom>
          <a:solidFill>
            <a:srgbClr val="22C55E"/>
          </a:solidFill>
          <a:ln cap="flat" cmpd="sng" w="12700">
            <a:solidFill>
              <a:srgbClr val="22C55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5"/>
          <p:cNvSpPr/>
          <p:nvPr/>
        </p:nvSpPr>
        <p:spPr>
          <a:xfrm>
            <a:off x="384048" y="3017520"/>
            <a:ext cx="2487168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🚀  Parallélisation possible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5"/>
          <p:cNvSpPr/>
          <p:nvPr/>
        </p:nvSpPr>
        <p:spPr>
          <a:xfrm>
            <a:off x="384048" y="3419856"/>
            <a:ext cx="2487168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Pendant que Claude code le sprint N,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je prépare déjà le sprint N+1.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5"/>
          <p:cNvSpPr/>
          <p:nvPr/>
        </p:nvSpPr>
        <p:spPr>
          <a:xfrm>
            <a:off x="3163824" y="2889504"/>
            <a:ext cx="2743200" cy="1828800"/>
          </a:xfrm>
          <a:prstGeom prst="rect">
            <a:avLst/>
          </a:prstGeom>
          <a:solidFill>
            <a:srgbClr val="FFF8E6"/>
          </a:solidFill>
          <a:ln cap="flat" cmpd="sng" w="9525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5"/>
          <p:cNvSpPr/>
          <p:nvPr/>
        </p:nvSpPr>
        <p:spPr>
          <a:xfrm>
            <a:off x="3163824" y="2889504"/>
            <a:ext cx="2743200" cy="64008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5"/>
          <p:cNvSpPr/>
          <p:nvPr/>
        </p:nvSpPr>
        <p:spPr>
          <a:xfrm>
            <a:off x="3291840" y="3017520"/>
            <a:ext cx="2487168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⚠️  Claude oublie des étapes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5"/>
          <p:cNvSpPr/>
          <p:nvPr/>
        </p:nvSpPr>
        <p:spPr>
          <a:xfrm>
            <a:off x="3291840" y="3419856"/>
            <a:ext cx="2487168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Il peut sauter des tâches ou ne pas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respecter exactement les specs — la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vérification humaine reste indispensable.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5"/>
          <p:cNvSpPr/>
          <p:nvPr/>
        </p:nvSpPr>
        <p:spPr>
          <a:xfrm>
            <a:off x="6071616" y="2889504"/>
            <a:ext cx="2743200" cy="1828800"/>
          </a:xfrm>
          <a:prstGeom prst="rect">
            <a:avLst/>
          </a:prstGeom>
          <a:solidFill>
            <a:srgbClr val="FFF0F3"/>
          </a:solidFill>
          <a:ln cap="flat" cmpd="sng" w="9525">
            <a:solidFill>
              <a:srgbClr val="F43F5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2D3748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5"/>
          <p:cNvSpPr/>
          <p:nvPr/>
        </p:nvSpPr>
        <p:spPr>
          <a:xfrm>
            <a:off x="6071616" y="2889504"/>
            <a:ext cx="2743200" cy="64008"/>
          </a:xfrm>
          <a:prstGeom prst="rect">
            <a:avLst/>
          </a:prstGeom>
          <a:solidFill>
            <a:srgbClr val="F43F5E"/>
          </a:solidFill>
          <a:ln cap="flat" cmpd="sng" w="12700">
            <a:solidFill>
              <a:srgbClr val="F43F5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5"/>
          <p:cNvSpPr/>
          <p:nvPr/>
        </p:nvSpPr>
        <p:spPr>
          <a:xfrm>
            <a:off x="6199632" y="3017520"/>
            <a:ext cx="2487168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A3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A3A"/>
                </a:solidFill>
                <a:latin typeface="Calibri"/>
                <a:ea typeface="Calibri"/>
                <a:cs typeface="Calibri"/>
                <a:sym typeface="Calibri"/>
              </a:rPr>
              <a:t>✅  Boucle qualité efficace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6199632" y="3419856"/>
            <a:ext cx="2487168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Vérifications humaines + auto-corrections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4A556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jusqu'à zéro écart avec la documentation.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2026-03-24T10:26:26Z</dcterms:created>
  <dc:creator>PptxGenJS</dc:creator>
</cp:coreProperties>
</file>